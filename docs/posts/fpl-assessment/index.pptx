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Poll: Enter 1-3 words at a time that summarize your assessment identity. (WordCloud)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method of reporting assignment grades to learners best fits your current practice? - percentage scale (e.g., 74%) - raw score (e.g., 19/26) - letter grade (e.g., A+, A, A- … C-, D, F) - proficiency scale (e.g. Excellent, Meets Expectations, Revision Needed, Not Assessable) - a combination of the above - other (please specify)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mad.land"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Re-imagining Assessment Choices</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Colin Madland</a:t>
            </a:r>
          </a:p>
        </p:txBody>
      </p:sp>
      <p:sp>
        <p:nvSpPr>
          <p:cNvPr id="4" name="Date Placeholder 3"/>
          <p:cNvSpPr>
            <a:spLocks noGrp="1"/>
          </p:cNvSpPr>
          <p:nvPr>
            <p:ph idx="10" sz="half" type="dt"/>
          </p:nvPr>
        </p:nvSpPr>
        <p:spPr/>
        <p:txBody>
          <a:bodyPr/>
          <a:lstStyle/>
          <a:p>
            <a:pPr lvl="0" indent="0" marL="0">
              <a:buNone/>
            </a:pPr>
            <a:r>
              <a:rPr/>
              <a:t>2025-10-23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Assessment?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Assessment Triangle</a:t>
            </a:r>
          </a:p>
        </p:txBody>
      </p:sp>
      <p:pic>
        <p:nvPicPr>
          <p:cNvPr descr="assessment-tri.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Purposes of Assessment…</a:t>
            </a:r>
          </a:p>
          <a:p>
            <a:pPr lvl="0" indent="0" marL="0">
              <a:buNone/>
            </a:pPr>
            <a:r>
              <a:rPr/>
              <a:t>…of learning</a:t>
            </a:r>
            <a:br/>
            <a:r>
              <a:rPr/>
              <a:t>…for learning</a:t>
            </a:r>
            <a:br/>
            <a:r>
              <a:rPr/>
              <a:t>…as learning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is ontological</a:t>
            </a:r>
          </a:p>
        </p:txBody>
      </p:sp>
      <p:sp>
        <p:nvSpPr>
          <p:cNvPr id="3" name="Content Placeholder 2"/>
          <p:cNvSpPr>
            <a:spLocks noGrp="1"/>
          </p:cNvSpPr>
          <p:nvPr>
            <p:ph idx="1"/>
          </p:nvPr>
        </p:nvSpPr>
        <p:spPr/>
        <p:txBody>
          <a:bodyPr/>
          <a:lstStyle/>
          <a:p>
            <a:pPr lvl="0" indent="0" marL="1270000">
              <a:buNone/>
            </a:pPr>
            <a:r>
              <a:rPr sz="2000"/>
              <a:t>“The mission of Trinity Western University, as an arm of the Church, is to develop godly Christian leaders: positive, goal-oriented university graduates with thoroughly Christian minds; growing disciples of Jesus Christ who glorify God through fulfilling the Great Commission, serving God and people in the various marketplaces of life.”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teaching is ontological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assessing is ontological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Assessment Identity</a:t>
            </a:r>
          </a:p>
        </p:txBody>
      </p:sp>
      <p:sp>
        <p:nvSpPr>
          <p:cNvPr id="3" name="Content Placeholder 2"/>
          <p:cNvSpPr>
            <a:spLocks noGrp="1"/>
          </p:cNvSpPr>
          <p:nvPr>
            <p:ph idx="1"/>
          </p:nvPr>
        </p:nvSpPr>
        <p:spPr/>
        <p:txBody>
          <a:bodyPr/>
          <a:lstStyle/>
          <a:p>
            <a:pPr lvl="0" indent="0" marL="0">
              <a:buNone/>
            </a:pPr>
            <a:r>
              <a:rPr/>
              <a:t>beliefs | feelings | knowledge | skills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 with your group how you would characterize your assessment identity as it is and how it came to be.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Highlights?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Assessment as Transaction</a:t>
            </a:r>
          </a:p>
        </p:txBody>
      </p:sp>
      <p:pic>
        <p:nvPicPr>
          <p:cNvPr descr="friere-book.png" id="0" name="Picture 1"/>
          <p:cNvPicPr>
            <a:picLocks noGrp="1" noChangeAspect="1"/>
          </p:cNvPicPr>
          <p:nvPr/>
        </p:nvPicPr>
        <p:blipFill>
          <a:blip r:embed="rId2"/>
          <a:stretch>
            <a:fillRect/>
          </a:stretch>
        </p:blipFill>
        <p:spPr bwMode="auto">
          <a:xfrm>
            <a:off x="3568700" y="673100"/>
            <a:ext cx="5105400" cy="3441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Instead of communicating, the teacher issues communiqués and makes deposits which the students patiently receive, memorize, and repeat. This is the “banking” concept of education, in which the scope of action allowed to students extends only as far as receiving, filing, and storing the deposits. (Freire, 1990, p. 72)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p>
        </p:txBody>
      </p:sp>
      <p:pic>
        <p:nvPicPr>
          <p:cNvPr descr="index_files/figure-pptx/mermaid-figure-1.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Stop. Be outside. Think.</a:t>
            </a:r>
          </a:p>
        </p:txBody>
      </p:sp>
      <p:sp>
        <p:nvSpPr>
          <p:cNvPr id="3" name="Content Placeholder 2"/>
          <p:cNvSpPr>
            <a:spLocks noGrp="1"/>
          </p:cNvSpPr>
          <p:nvPr>
            <p:ph idx="1"/>
          </p:nvPr>
        </p:nvSpPr>
        <p:spPr/>
        <p:txBody>
          <a:bodyPr/>
          <a:lstStyle/>
          <a:p>
            <a:pPr lvl="0" indent="0" marL="0">
              <a:buNone/>
            </a:pPr>
            <a:r>
              <a:rPr/>
              <a:t>Recall a time when you were the </a:t>
            </a:r>
            <a:r>
              <a:rPr i="1"/>
              <a:t>object</a:t>
            </a:r>
            <a:r>
              <a:rPr/>
              <a:t> in an educational transaction, where ‘teaching’ or ‘assessing’ was something done </a:t>
            </a:r>
            <a:r>
              <a:rPr b="1"/>
              <a:t>to</a:t>
            </a:r>
            <a:r>
              <a:rPr/>
              <a:t> you. What might YOU do to avoid commoditizing grades in your practice?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Agency in Assessment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231900"/>
                <a:gridCol w="6997700"/>
              </a:tblGrid>
              <a:tr h="0">
                <a:tc>
                  <a:txBody>
                    <a:bodyPr/>
                    <a:lstStyle/>
                    <a:p>
                      <a:pPr lvl="0" indent="0" marL="0">
                        <a:buNone/>
                      </a:pPr>
                      <a:r>
                        <a:rPr/>
                        <a:t>letter.grade</a:t>
                      </a:r>
                    </a:p>
                  </a:txBody>
                  <a:tcPr/>
                </a:tc>
                <a:tc>
                  <a:txBody>
                    <a:bodyPr/>
                    <a:lstStyle/>
                    <a:p>
                      <a:pPr lvl="0" indent="0" marL="0">
                        <a:buNone/>
                      </a:pPr>
                      <a:r>
                        <a:rPr/>
                        <a:t>quality.characteristics</a:t>
                      </a:r>
                    </a:p>
                  </a:txBody>
                  <a:tcPr/>
                </a:tc>
              </a:tr>
              <a:tr h="0">
                <a:tc>
                  <a:txBody>
                    <a:bodyPr/>
                    <a:lstStyle/>
                    <a:p>
                      <a:pPr lvl="0" indent="0" marL="0">
                        <a:buNone/>
                      </a:pPr>
                      <a:r>
                        <a:rPr/>
                        <a:t>A</a:t>
                      </a:r>
                    </a:p>
                  </a:txBody>
                </a:tc>
                <a:tc>
                  <a:txBody>
                    <a:bodyPr/>
                    <a:lstStyle/>
                    <a:p>
                      <a:pPr lvl="0" indent="0" marL="0">
                        <a:buNone/>
                      </a:pPr>
                      <a:r>
                        <a:rPr/>
                        <a:t>Outstanding, excellent work; exceptional performance with …</a:t>
                      </a:r>
                    </a:p>
                  </a:txBody>
                </a:tc>
              </a:tr>
              <a:tr h="0">
                <a:tc>
                  <a:txBody>
                    <a:bodyPr/>
                    <a:lstStyle/>
                    <a:p>
                      <a:pPr lvl="0" indent="0" marL="0">
                        <a:buNone/>
                      </a:pPr>
                      <a:r>
                        <a:rPr/>
                        <a:t>B</a:t>
                      </a:r>
                    </a:p>
                  </a:txBody>
                </a:tc>
                <a:tc>
                  <a:txBody>
                    <a:bodyPr/>
                    <a:lstStyle/>
                    <a:p>
                      <a:pPr lvl="0" indent="0" marL="0">
                        <a:buNone/>
                      </a:pPr>
                      <a:r>
                        <a:rPr/>
                        <a:t>Good, competent work; laudable performance with…</a:t>
                      </a:r>
                    </a:p>
                  </a:txBody>
                </a:tc>
              </a:tr>
              <a:tr h="0">
                <a:tc>
                  <a:txBody>
                    <a:bodyPr/>
                    <a:lstStyle/>
                    <a:p>
                      <a:pPr lvl="0" indent="0" marL="0">
                        <a:buNone/>
                      </a:pPr>
                      <a:r>
                        <a:rPr/>
                        <a:t>C</a:t>
                      </a:r>
                    </a:p>
                  </a:txBody>
                </a:tc>
                <a:tc>
                  <a:txBody>
                    <a:bodyPr/>
                    <a:lstStyle/>
                    <a:p>
                      <a:pPr lvl="0" indent="0" marL="0">
                        <a:buNone/>
                      </a:pPr>
                      <a:r>
                        <a:rPr/>
                        <a:t>Adequate, reasonably satisfactory work; fair performance but infrequent evidence …</a:t>
                      </a:r>
                    </a:p>
                  </a:txBody>
                </a:tc>
              </a:tr>
              <a:tr h="0">
                <a:tc>
                  <a:txBody>
                    <a:bodyPr/>
                    <a:lstStyle/>
                    <a:p>
                      <a:pPr lvl="0" indent="0" marL="0">
                        <a:buNone/>
                      </a:pPr>
                      <a:r>
                        <a:rPr/>
                        <a:t>D</a:t>
                      </a:r>
                    </a:p>
                  </a:txBody>
                </a:tc>
                <a:tc>
                  <a:txBody>
                    <a:bodyPr/>
                    <a:lstStyle/>
                    <a:p>
                      <a:pPr lvl="0" indent="0" marL="0">
                        <a:buNone/>
                      </a:pPr>
                      <a:r>
                        <a:rPr/>
                        <a:t>Minimally acceptable work; relatively weak performance with …</a:t>
                      </a:r>
                    </a:p>
                  </a:txBody>
                </a:tc>
              </a:tr>
              <a:tr h="0">
                <a:tc>
                  <a:txBody>
                    <a:bodyPr/>
                    <a:lstStyle/>
                    <a:p>
                      <a:pPr lvl="0" indent="0" marL="0">
                        <a:buNone/>
                      </a:pPr>
                      <a:r>
                        <a:rPr/>
                        <a:t>F</a:t>
                      </a:r>
                    </a:p>
                  </a:txBody>
                </a:tc>
                <a:tc>
                  <a:txBody>
                    <a:bodyPr/>
                    <a:lstStyle/>
                    <a:p>
                      <a:pPr lvl="0" indent="0" marL="0">
                        <a:buNone/>
                      </a:pPr>
                      <a:r>
                        <a:rPr/>
                        <a:t>Inadequate work; poor performance that indicates a lack of understanding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The University-wide system of percentage equivalents is shown in the table below [next slide]. </a:t>
            </a:r>
            <a:r>
              <a:rPr sz="2000" i="1"/>
              <a:t>Faculty members may deviate from this scale</a:t>
            </a:r>
            <a:r>
              <a:rPr sz="2000"/>
              <a:t>; however, if they do so, they must indicate, in their course syllabus, the percentage equivalency system they use.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do you notice? What do you wonder?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933700"/>
                <a:gridCol w="2552700"/>
                <a:gridCol w="2743200"/>
              </a:tblGrid>
              <a:tr h="0">
                <a:tc>
                  <a:txBody>
                    <a:bodyPr/>
                    <a:lstStyle/>
                    <a:p>
                      <a:pPr lvl="0" indent="0" marL="0">
                        <a:buNone/>
                      </a:pPr>
                      <a:r>
                        <a:rPr/>
                        <a:t>letter.grade</a:t>
                      </a:r>
                    </a:p>
                  </a:txBody>
                  <a:tcPr/>
                </a:tc>
                <a:tc>
                  <a:txBody>
                    <a:bodyPr/>
                    <a:lstStyle/>
                    <a:p>
                      <a:pPr lvl="0" indent="0" marL="0">
                        <a:buNone/>
                      </a:pPr>
                      <a:r>
                        <a:rPr/>
                        <a:t>percentage</a:t>
                      </a:r>
                    </a:p>
                  </a:txBody>
                  <a:tcPr/>
                </a:tc>
                <a:tc>
                  <a:txBody>
                    <a:bodyPr/>
                    <a:lstStyle/>
                    <a:p>
                      <a:pPr lvl="0" indent="0" marL="0">
                        <a:buNone/>
                      </a:pPr>
                      <a:r>
                        <a:rPr/>
                        <a:t>grade.point</a:t>
                      </a:r>
                    </a:p>
                  </a:txBody>
                  <a:tcPr/>
                </a:tc>
              </a:tr>
              <a:tr h="0">
                <a:tc>
                  <a:txBody>
                    <a:bodyPr/>
                    <a:lstStyle/>
                    <a:p>
                      <a:pPr lvl="0" indent="0" marL="0">
                        <a:buNone/>
                      </a:pPr>
                      <a:r>
                        <a:rPr/>
                        <a:t>A+</a:t>
                      </a:r>
                    </a:p>
                  </a:txBody>
                </a:tc>
                <a:tc>
                  <a:txBody>
                    <a:bodyPr/>
                    <a:lstStyle/>
                    <a:p>
                      <a:pPr lvl="0" indent="0" marL="0">
                        <a:buNone/>
                      </a:pPr>
                      <a:r>
                        <a:rPr/>
                        <a:t>90-100</a:t>
                      </a:r>
                    </a:p>
                  </a:txBody>
                </a:tc>
                <a:tc>
                  <a:txBody>
                    <a:bodyPr/>
                    <a:lstStyle/>
                    <a:p>
                      <a:pPr lvl="0" indent="0" marL="0">
                        <a:buNone/>
                      </a:pPr>
                      <a:r>
                        <a:rPr/>
                        <a:t>4.3</a:t>
                      </a:r>
                    </a:p>
                  </a:txBody>
                </a:tc>
              </a:tr>
              <a:tr h="0">
                <a:tc>
                  <a:txBody>
                    <a:bodyPr/>
                    <a:lstStyle/>
                    <a:p>
                      <a:pPr lvl="0" indent="0" marL="0">
                        <a:buNone/>
                      </a:pPr>
                      <a:r>
                        <a:rPr/>
                        <a:t>A</a:t>
                      </a:r>
                    </a:p>
                  </a:txBody>
                </a:tc>
                <a:tc>
                  <a:txBody>
                    <a:bodyPr/>
                    <a:lstStyle/>
                    <a:p>
                      <a:pPr lvl="0" indent="0" marL="0">
                        <a:buNone/>
                      </a:pPr>
                      <a:r>
                        <a:rPr/>
                        <a:t>85-89</a:t>
                      </a:r>
                    </a:p>
                  </a:txBody>
                </a:tc>
                <a:tc>
                  <a:txBody>
                    <a:bodyPr/>
                    <a:lstStyle/>
                    <a:p>
                      <a:pPr lvl="0" indent="0" marL="0">
                        <a:buNone/>
                      </a:pPr>
                      <a:r>
                        <a:rPr/>
                        <a:t>4.0</a:t>
                      </a:r>
                    </a:p>
                  </a:txBody>
                </a:tc>
              </a:tr>
              <a:tr h="0">
                <a:tc>
                  <a:txBody>
                    <a:bodyPr/>
                    <a:lstStyle/>
                    <a:p>
                      <a:pPr lvl="0" indent="0" marL="0">
                        <a:buNone/>
                      </a:pPr>
                      <a:r>
                        <a:rPr/>
                        <a:t>A-</a:t>
                      </a:r>
                    </a:p>
                  </a:txBody>
                </a:tc>
                <a:tc>
                  <a:txBody>
                    <a:bodyPr/>
                    <a:lstStyle/>
                    <a:p>
                      <a:pPr lvl="0" indent="0" marL="0">
                        <a:buNone/>
                      </a:pPr>
                      <a:r>
                        <a:rPr/>
                        <a:t>80-84</a:t>
                      </a:r>
                    </a:p>
                  </a:txBody>
                </a:tc>
                <a:tc>
                  <a:txBody>
                    <a:bodyPr/>
                    <a:lstStyle/>
                    <a:p>
                      <a:pPr lvl="0" indent="0" marL="0">
                        <a:buNone/>
                      </a:pPr>
                      <a:r>
                        <a:rPr/>
                        <a:t>3.7</a:t>
                      </a:r>
                    </a:p>
                  </a:txBody>
                </a:tc>
              </a:tr>
              <a:tr h="0">
                <a:tc>
                  <a:txBody>
                    <a:bodyPr/>
                    <a:lstStyle/>
                    <a:p>
                      <a:pPr lvl="0" indent="0" marL="0">
                        <a:buNone/>
                      </a:pPr>
                      <a:r>
                        <a:rPr/>
                        <a:t>B+</a:t>
                      </a:r>
                    </a:p>
                  </a:txBody>
                </a:tc>
                <a:tc>
                  <a:txBody>
                    <a:bodyPr/>
                    <a:lstStyle/>
                    <a:p>
                      <a:pPr lvl="0" indent="0" marL="0">
                        <a:buNone/>
                      </a:pPr>
                      <a:r>
                        <a:rPr/>
                        <a:t>77-79</a:t>
                      </a:r>
                    </a:p>
                  </a:txBody>
                </a:tc>
                <a:tc>
                  <a:txBody>
                    <a:bodyPr/>
                    <a:lstStyle/>
                    <a:p>
                      <a:pPr lvl="0" indent="0" marL="0">
                        <a:buNone/>
                      </a:pPr>
                      <a:r>
                        <a:rPr/>
                        <a:t>3.3</a:t>
                      </a:r>
                    </a:p>
                  </a:txBody>
                </a:tc>
              </a:tr>
              <a:tr h="0">
                <a:tc>
                  <a:txBody>
                    <a:bodyPr/>
                    <a:lstStyle/>
                    <a:p>
                      <a:pPr lvl="0" indent="0" marL="0">
                        <a:buNone/>
                      </a:pPr>
                      <a:r>
                        <a:rPr/>
                        <a:t>B</a:t>
                      </a:r>
                    </a:p>
                  </a:txBody>
                </a:tc>
                <a:tc>
                  <a:txBody>
                    <a:bodyPr/>
                    <a:lstStyle/>
                    <a:p>
                      <a:pPr lvl="0" indent="0" marL="0">
                        <a:buNone/>
                      </a:pPr>
                      <a:r>
                        <a:rPr/>
                        <a:t>73-76</a:t>
                      </a:r>
                    </a:p>
                  </a:txBody>
                </a:tc>
                <a:tc>
                  <a:txBody>
                    <a:bodyPr/>
                    <a:lstStyle/>
                    <a:p>
                      <a:pPr lvl="0" indent="0" marL="0">
                        <a:buNone/>
                      </a:pPr>
                      <a:r>
                        <a:rPr/>
                        <a:t>3.0</a:t>
                      </a:r>
                    </a:p>
                  </a:txBody>
                </a:tc>
              </a:tr>
              <a:tr h="0">
                <a:tc>
                  <a:txBody>
                    <a:bodyPr/>
                    <a:lstStyle/>
                    <a:p>
                      <a:pPr lvl="0" indent="0" marL="0">
                        <a:buNone/>
                      </a:pPr>
                      <a:r>
                        <a:rPr/>
                        <a:t>B-</a:t>
                      </a:r>
                    </a:p>
                  </a:txBody>
                </a:tc>
                <a:tc>
                  <a:txBody>
                    <a:bodyPr/>
                    <a:lstStyle/>
                    <a:p>
                      <a:pPr lvl="0" indent="0" marL="0">
                        <a:buNone/>
                      </a:pPr>
                      <a:r>
                        <a:rPr/>
                        <a:t>70-72</a:t>
                      </a:r>
                    </a:p>
                  </a:txBody>
                </a:tc>
                <a:tc>
                  <a:txBody>
                    <a:bodyPr/>
                    <a:lstStyle/>
                    <a:p>
                      <a:pPr lvl="0" indent="0" marL="0">
                        <a:buNone/>
                      </a:pPr>
                      <a:r>
                        <a:rPr/>
                        <a:t>2.7</a:t>
                      </a:r>
                    </a:p>
                  </a:txBody>
                </a:tc>
              </a:tr>
              <a:tr h="0">
                <a:tc>
                  <a:txBody>
                    <a:bodyPr/>
                    <a:lstStyle/>
                    <a:p>
                      <a:pPr lvl="0" indent="0" marL="0">
                        <a:buNone/>
                      </a:pPr>
                      <a:r>
                        <a:rPr/>
                        <a:t>C+</a:t>
                      </a:r>
                    </a:p>
                  </a:txBody>
                </a:tc>
                <a:tc>
                  <a:txBody>
                    <a:bodyPr/>
                    <a:lstStyle/>
                    <a:p>
                      <a:pPr lvl="0" indent="0" marL="0">
                        <a:buNone/>
                      </a:pPr>
                      <a:r>
                        <a:rPr/>
                        <a:t>67-69</a:t>
                      </a:r>
                    </a:p>
                  </a:txBody>
                </a:tc>
                <a:tc>
                  <a:txBody>
                    <a:bodyPr/>
                    <a:lstStyle/>
                    <a:p>
                      <a:pPr lvl="0" indent="0" marL="0">
                        <a:buNone/>
                      </a:pPr>
                      <a:r>
                        <a:rPr/>
                        <a:t>2.3</a:t>
                      </a:r>
                    </a:p>
                  </a:txBody>
                </a:tc>
              </a:tr>
              <a:tr h="0">
                <a:tc>
                  <a:txBody>
                    <a:bodyPr/>
                    <a:lstStyle/>
                    <a:p>
                      <a:pPr lvl="0" indent="0" marL="0">
                        <a:buNone/>
                      </a:pPr>
                      <a:r>
                        <a:rPr/>
                        <a:t>C</a:t>
                      </a:r>
                    </a:p>
                  </a:txBody>
                </a:tc>
                <a:tc>
                  <a:txBody>
                    <a:bodyPr/>
                    <a:lstStyle/>
                    <a:p>
                      <a:pPr lvl="0" indent="0" marL="0">
                        <a:buNone/>
                      </a:pPr>
                      <a:r>
                        <a:rPr/>
                        <a:t>63-66</a:t>
                      </a:r>
                    </a:p>
                  </a:txBody>
                </a:tc>
                <a:tc>
                  <a:txBody>
                    <a:bodyPr/>
                    <a:lstStyle/>
                    <a:p>
                      <a:pPr lvl="0" indent="0" marL="0">
                        <a:buNone/>
                      </a:pPr>
                      <a:r>
                        <a:rPr/>
                        <a:t>2.0</a:t>
                      </a:r>
                    </a:p>
                  </a:txBody>
                </a:tc>
              </a:tr>
              <a:tr h="0">
                <a:tc>
                  <a:txBody>
                    <a:bodyPr/>
                    <a:lstStyle/>
                    <a:p>
                      <a:pPr lvl="0" indent="0" marL="0">
                        <a:buNone/>
                      </a:pPr>
                      <a:r>
                        <a:rPr/>
                        <a:t>C-</a:t>
                      </a:r>
                    </a:p>
                  </a:txBody>
                </a:tc>
                <a:tc>
                  <a:txBody>
                    <a:bodyPr/>
                    <a:lstStyle/>
                    <a:p>
                      <a:pPr lvl="0" indent="0" marL="0">
                        <a:buNone/>
                      </a:pPr>
                      <a:r>
                        <a:rPr/>
                        <a:t>60-62</a:t>
                      </a:r>
                    </a:p>
                  </a:txBody>
                </a:tc>
                <a:tc>
                  <a:txBody>
                    <a:bodyPr/>
                    <a:lstStyle/>
                    <a:p>
                      <a:pPr lvl="0" indent="0" marL="0">
                        <a:buNone/>
                      </a:pPr>
                      <a:r>
                        <a:rPr/>
                        <a:t>1.7</a:t>
                      </a:r>
                    </a:p>
                  </a:txBody>
                </a:tc>
              </a:tr>
              <a:tr h="0">
                <a:tc>
                  <a:txBody>
                    <a:bodyPr/>
                    <a:lstStyle/>
                    <a:p>
                      <a:pPr lvl="0" indent="0" marL="0">
                        <a:buNone/>
                      </a:pPr>
                      <a:r>
                        <a:rPr/>
                        <a:t>D+</a:t>
                      </a:r>
                    </a:p>
                  </a:txBody>
                </a:tc>
                <a:tc>
                  <a:txBody>
                    <a:bodyPr/>
                    <a:lstStyle/>
                    <a:p>
                      <a:pPr lvl="0" indent="0" marL="0">
                        <a:buNone/>
                      </a:pPr>
                      <a:r>
                        <a:rPr/>
                        <a:t>57-59</a:t>
                      </a:r>
                    </a:p>
                  </a:txBody>
                </a:tc>
                <a:tc>
                  <a:txBody>
                    <a:bodyPr/>
                    <a:lstStyle/>
                    <a:p>
                      <a:pPr lvl="0" indent="0" marL="0">
                        <a:buNone/>
                      </a:pPr>
                      <a:r>
                        <a:rPr/>
                        <a:t>1.3</a:t>
                      </a:r>
                    </a:p>
                  </a:txBody>
                </a:tc>
              </a:tr>
              <a:tr h="0">
                <a:tc>
                  <a:txBody>
                    <a:bodyPr/>
                    <a:lstStyle/>
                    <a:p>
                      <a:pPr lvl="0" indent="0" marL="0">
                        <a:buNone/>
                      </a:pPr>
                      <a:r>
                        <a:rPr/>
                        <a:t>D</a:t>
                      </a:r>
                    </a:p>
                  </a:txBody>
                </a:tc>
                <a:tc>
                  <a:txBody>
                    <a:bodyPr/>
                    <a:lstStyle/>
                    <a:p>
                      <a:pPr lvl="0" indent="0" marL="0">
                        <a:buNone/>
                      </a:pPr>
                      <a:r>
                        <a:rPr/>
                        <a:t>53-56</a:t>
                      </a:r>
                    </a:p>
                  </a:txBody>
                </a:tc>
                <a:tc>
                  <a:txBody>
                    <a:bodyPr/>
                    <a:lstStyle/>
                    <a:p>
                      <a:pPr lvl="0" indent="0" marL="0">
                        <a:buNone/>
                      </a:pPr>
                      <a:r>
                        <a:rPr/>
                        <a:t>1.0</a:t>
                      </a:r>
                    </a:p>
                  </a:txBody>
                </a:tc>
              </a:tr>
              <a:tr h="0">
                <a:tc>
                  <a:txBody>
                    <a:bodyPr/>
                    <a:lstStyle/>
                    <a:p>
                      <a:pPr lvl="0" indent="0" marL="0">
                        <a:buNone/>
                      </a:pPr>
                      <a:r>
                        <a:rPr/>
                        <a:t>D-</a:t>
                      </a:r>
                    </a:p>
                  </a:txBody>
                </a:tc>
                <a:tc>
                  <a:txBody>
                    <a:bodyPr/>
                    <a:lstStyle/>
                    <a:p>
                      <a:pPr lvl="0" indent="0" marL="0">
                        <a:buNone/>
                      </a:pPr>
                      <a:r>
                        <a:rPr/>
                        <a:t>50-52</a:t>
                      </a:r>
                    </a:p>
                  </a:txBody>
                </a:tc>
                <a:tc>
                  <a:txBody>
                    <a:bodyPr/>
                    <a:lstStyle/>
                    <a:p>
                      <a:pPr lvl="0" indent="0" marL="0">
                        <a:buNone/>
                      </a:pPr>
                      <a:r>
                        <a:rPr/>
                        <a:t>0.7</a:t>
                      </a:r>
                    </a:p>
                  </a:txBody>
                </a:tc>
              </a:tr>
              <a:tr h="0">
                <a:tc>
                  <a:txBody>
                    <a:bodyPr/>
                    <a:lstStyle/>
                    <a:p>
                      <a:pPr lvl="0" indent="0" marL="0">
                        <a:buNone/>
                      </a:pPr>
                      <a:r>
                        <a:rPr/>
                        <a:t>F</a:t>
                      </a:r>
                    </a:p>
                  </a:txBody>
                </a:tc>
                <a:tc>
                  <a:txBody>
                    <a:bodyPr/>
                    <a:lstStyle/>
                    <a:p>
                      <a:pPr lvl="0" indent="0" marL="0">
                        <a:buNone/>
                      </a:pPr>
                      <a:r>
                        <a:rPr/>
                        <a:t>Below 50</a:t>
                      </a:r>
                    </a:p>
                  </a:txBody>
                </a:tc>
                <a:tc>
                  <a:txBody>
                    <a:bodyPr/>
                    <a:lstStyle/>
                    <a:p>
                      <a:pPr lvl="0" indent="0" marL="0">
                        <a:buNone/>
                      </a:pPr>
                      <a:r>
                        <a:rPr/>
                        <a:t>0.0</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p>
        </p:txBody>
      </p:sp>
      <p:pic>
        <p:nvPicPr>
          <p:cNvPr descr="index_files/figure-pptx/mermaid-figure-2.png" id="0" name="Picture 1"/>
          <p:cNvPicPr>
            <a:picLocks noGrp="1" noChangeAspect="1"/>
          </p:cNvPicPr>
          <p:nvPr/>
        </p:nvPicPr>
        <p:blipFill>
          <a:blip r:embed="rId2"/>
          <a:stretch>
            <a:fillRect/>
          </a:stretch>
        </p:blipFill>
        <p:spPr bwMode="auto">
          <a:xfrm>
            <a:off x="3568700" y="1143000"/>
            <a:ext cx="5105400" cy="2514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197100"/>
                <a:gridCol w="1282700"/>
                <a:gridCol w="2565400"/>
                <a:gridCol w="2197100"/>
              </a:tblGrid>
              <a:tr h="0">
                <a:tc>
                  <a:txBody>
                    <a:bodyPr/>
                    <a:lstStyle/>
                    <a:p>
                      <a:pPr lvl="0" indent="0" marL="0">
                        <a:buNone/>
                      </a:pPr>
                      <a:r>
                        <a:rPr/>
                        <a:t>Data_type</a:t>
                      </a:r>
                    </a:p>
                  </a:txBody>
                  <a:tcPr/>
                </a:tc>
                <a:tc>
                  <a:txBody>
                    <a:bodyPr/>
                    <a:lstStyle/>
                    <a:p>
                      <a:pPr lvl="0" indent="0" marL="0">
                        <a:buNone/>
                      </a:pPr>
                      <a:r>
                        <a:rPr/>
                        <a:t>Mean</a:t>
                      </a:r>
                    </a:p>
                  </a:txBody>
                  <a:tcPr/>
                </a:tc>
                <a:tc>
                  <a:txBody>
                    <a:bodyPr/>
                    <a:lstStyle/>
                    <a:p>
                      <a:pPr lvl="0" indent="0" marL="0">
                        <a:buNone/>
                      </a:pPr>
                      <a:r>
                        <a:rPr/>
                        <a:t>Equidistant</a:t>
                      </a:r>
                    </a:p>
                  </a:txBody>
                  <a:tcPr/>
                </a:tc>
                <a:tc>
                  <a:txBody>
                    <a:bodyPr/>
                    <a:lstStyle/>
                    <a:p>
                      <a:pPr lvl="0" indent="0" marL="0">
                        <a:buNone/>
                      </a:pPr>
                      <a:r>
                        <a:rPr/>
                        <a:t>True.Zero</a:t>
                      </a:r>
                    </a:p>
                  </a:txBody>
                  <a:tcPr/>
                </a:tc>
              </a:tr>
              <a:tr h="0">
                <a:tc>
                  <a:txBody>
                    <a:bodyPr/>
                    <a:lstStyle/>
                    <a:p>
                      <a:pPr lvl="0" indent="0" marL="0">
                        <a:buNone/>
                      </a:pPr>
                      <a:r>
                        <a:rPr/>
                        <a:t>Nominal</a:t>
                      </a:r>
                    </a:p>
                  </a:txBody>
                </a:tc>
                <a:tc>
                  <a:txBody>
                    <a:bodyPr/>
                    <a:lstStyle/>
                    <a:p>
                      <a:pPr lvl="0" indent="0" marL="0">
                        <a:buNone/>
                      </a:pPr>
                      <a:r>
                        <a:rPr/>
                        <a:t>❌ | ❌ | ❌</a:t>
                      </a:r>
                    </a:p>
                  </a:txBody>
                </a:tc>
                <a:tc>
                  <a:txBody>
                    <a:bodyPr/>
                    <a:lstStyle/>
                    <a:p>
                      <a:endParaRPr/>
                    </a:p>
                  </a:txBody>
                </a:tc>
                <a:tc>
                  <a:txBody>
                    <a:bodyPr/>
                    <a:lstStyle/>
                    <a:p>
                      <a:endParaRPr/>
                    </a:p>
                  </a:txBody>
                </a:tc>
              </a:tr>
              <a:tr h="0">
                <a:tc>
                  <a:txBody>
                    <a:bodyPr/>
                    <a:lstStyle/>
                    <a:p>
                      <a:pPr lvl="0" indent="0" marL="0">
                        <a:buNone/>
                      </a:pPr>
                      <a:r>
                        <a:rPr/>
                        <a:t>Ordinal</a:t>
                      </a:r>
                    </a:p>
                  </a:txBody>
                </a:tc>
                <a:tc>
                  <a:txBody>
                    <a:bodyPr/>
                    <a:lstStyle/>
                    <a:p>
                      <a:pPr lvl="0" indent="0" marL="0">
                        <a:buNone/>
                      </a:pPr>
                      <a:r>
                        <a:rPr/>
                        <a:t>❌ | ❌ | ❌</a:t>
                      </a:r>
                    </a:p>
                  </a:txBody>
                </a:tc>
                <a:tc>
                  <a:txBody>
                    <a:bodyPr/>
                    <a:lstStyle/>
                    <a:p>
                      <a:endParaRPr/>
                    </a:p>
                  </a:txBody>
                </a:tc>
                <a:tc>
                  <a:txBody>
                    <a:bodyPr/>
                    <a:lstStyle/>
                    <a:p>
                      <a:endParaRPr/>
                    </a:p>
                  </a:txBody>
                </a:tc>
              </a:tr>
              <a:tr h="0">
                <a:tc>
                  <a:txBody>
                    <a:bodyPr/>
                    <a:lstStyle/>
                    <a:p>
                      <a:pPr lvl="0" indent="0" marL="0">
                        <a:buNone/>
                      </a:pPr>
                      <a:r>
                        <a:rPr/>
                        <a:t>Interval</a:t>
                      </a:r>
                    </a:p>
                  </a:txBody>
                </a:tc>
                <a:tc>
                  <a:txBody>
                    <a:bodyPr/>
                    <a:lstStyle/>
                    <a:p>
                      <a:pPr lvl="0" indent="0" marL="0">
                        <a:buNone/>
                      </a:pPr>
                      <a:r>
                        <a:rPr/>
                        <a:t>✅ | ✅ | ❌</a:t>
                      </a:r>
                    </a:p>
                  </a:txBody>
                </a:tc>
                <a:tc>
                  <a:txBody>
                    <a:bodyPr/>
                    <a:lstStyle/>
                    <a:p>
                      <a:endParaRPr/>
                    </a:p>
                  </a:txBody>
                </a:tc>
                <a:tc>
                  <a:txBody>
                    <a:bodyPr/>
                    <a:lstStyle/>
                    <a:p>
                      <a:endParaRPr/>
                    </a:p>
                  </a:txBody>
                </a:tc>
              </a:tr>
              <a:tr h="0">
                <a:tc>
                  <a:txBody>
                    <a:bodyPr/>
                    <a:lstStyle/>
                    <a:p>
                      <a:pPr lvl="0" indent="0" marL="0">
                        <a:buNone/>
                      </a:pPr>
                      <a:r>
                        <a:rPr/>
                        <a:t>Ratio</a:t>
                      </a:r>
                    </a:p>
                  </a:txBody>
                </a:tc>
                <a:tc>
                  <a:txBody>
                    <a:bodyPr/>
                    <a:lstStyle/>
                    <a:p>
                      <a:pPr lvl="0" indent="0" marL="0">
                        <a:buNone/>
                      </a:pPr>
                      <a:r>
                        <a:rPr/>
                        <a:t>✅ | ✅ | ✅</a:t>
                      </a:r>
                    </a:p>
                  </a:txBody>
                </a:tc>
                <a:tc>
                  <a:txBody>
                    <a:bodyPr/>
                    <a:lstStyle/>
                    <a:p>
                      <a:endParaRPr/>
                    </a:p>
                  </a:txBody>
                </a:tc>
                <a:tc>
                  <a:txBody>
                    <a:bodyPr/>
                    <a:lstStyle/>
                    <a:p>
                      <a:endParaRP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Nominal</a:t>
            </a:r>
          </a:p>
          <a:p>
            <a:pPr lvl="0" indent="0" marL="1270000">
              <a:buNone/>
            </a:pPr>
            <a:r>
              <a:rPr sz="2000"/>
              <a:t>named</a:t>
            </a:r>
          </a:p>
          <a:p>
            <a:pPr lvl="0" indent="0" marL="1270000">
              <a:buNone/>
            </a:pPr>
            <a:r>
              <a:rPr sz="2000"/>
              <a:t>counts, mode</a:t>
            </a:r>
          </a:p>
          <a:p>
            <a:pPr lvl="0" indent="0" marL="0">
              <a:buNone/>
            </a:pPr>
            <a:r>
              <a:rPr b="1"/>
              <a:t>Ordinal</a:t>
            </a:r>
          </a:p>
          <a:p>
            <a:pPr lvl="0" indent="0" marL="1270000">
              <a:buNone/>
            </a:pPr>
            <a:r>
              <a:rPr sz="2000"/>
              <a:t>named, ordered</a:t>
            </a:r>
          </a:p>
          <a:p>
            <a:pPr lvl="0" indent="0" marL="1270000">
              <a:buNone/>
            </a:pPr>
            <a:r>
              <a:rPr sz="2000"/>
              <a:t>counts, mode, median</a:t>
            </a:r>
          </a:p>
          <a:p>
            <a:pPr lvl="0" indent="0" marL="0">
              <a:buNone/>
            </a:pPr>
            <a:r>
              <a:rPr b="1"/>
              <a:t>Interval</a:t>
            </a:r>
          </a:p>
          <a:p>
            <a:pPr lvl="0" indent="0" marL="1270000">
              <a:buNone/>
            </a:pPr>
            <a:r>
              <a:rPr sz="2000"/>
              <a:t>named, ordered, equidistant</a:t>
            </a:r>
          </a:p>
          <a:p>
            <a:pPr lvl="0" indent="0" marL="1270000">
              <a:buNone/>
            </a:pPr>
            <a:r>
              <a:rPr sz="2000"/>
              <a:t>counts, mean, median, mode, standard deviation</a:t>
            </a:r>
          </a:p>
          <a:p>
            <a:pPr lvl="0" indent="0" marL="0">
              <a:buNone/>
            </a:pPr>
            <a:r>
              <a:rPr b="1"/>
              <a:t>Ratio</a:t>
            </a:r>
          </a:p>
          <a:p>
            <a:pPr lvl="0" indent="0" marL="1270000">
              <a:buNone/>
            </a:pPr>
            <a:r>
              <a:rPr sz="2000"/>
              <a:t>named, ordered, equidistant, true zero</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Knowledge emerges only through invention and re-invention, through the restless, impatient, continuing, hopeful inquiry human beings pursue in the world, with the world, and with each other. (Freire, 1990, p. 72)</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cmad.land</a:t>
            </a:r>
            <a:r>
              <a:rPr/>
              <a:t> - slides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Freire, P. (1990). </a:t>
            </a:r>
            <a:r>
              <a:rPr i="1"/>
              <a:t>Pedagogy of the oppressed</a:t>
            </a:r>
            <a:r>
              <a:rPr/>
              <a:t>. Penguin.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Re-imagining Assessment Choices</dc:title>
  <dc:creator>Colin Madland</dc:creator>
  <cp:keywords/>
  <dcterms:created xsi:type="dcterms:W3CDTF">2025-10-22T17:00:34Z</dcterms:created>
  <dcterms:modified xsi:type="dcterms:W3CDTF">2025-10-22T17:00:34Z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../../refs.bib</vt:lpwstr>
  </property>
  <property fmtid="{D5CDD505-2E9C-101B-9397-08002B2CF9AE}" pid="5" name="by-author">
    <vt:lpwstr/>
  </property>
  <property fmtid="{D5CDD505-2E9C-101B-9397-08002B2CF9AE}" pid="6" name="categories">
    <vt:lpwstr/>
  </property>
  <property fmtid="{D5CDD505-2E9C-101B-9397-08002B2CF9AE}" pid="7" name="csl">
    <vt:lpwstr>../../apa.csl</vt:lpwstr>
  </property>
  <property fmtid="{D5CDD505-2E9C-101B-9397-08002B2CF9AE}" pid="8" name="date">
    <vt:lpwstr>2025-10-23</vt:lpwstr>
  </property>
  <property fmtid="{D5CDD505-2E9C-101B-9397-08002B2CF9AE}" pid="9" name="draft">
    <vt:lpwstr>True</vt:lpwstr>
  </property>
  <property fmtid="{D5CDD505-2E9C-101B-9397-08002B2CF9AE}" pid="10" name="footer">
    <vt:lpwstr>colin.madland@twu.ca | TWU Faculty Professional Learning Seminar</vt:lpwstr>
  </property>
  <property fmtid="{D5CDD505-2E9C-101B-9397-08002B2CF9AE}" pid="11" name="header-includes">
    <vt:lpwstr/>
  </property>
  <property fmtid="{D5CDD505-2E9C-101B-9397-08002B2CF9AE}" pid="12" name="image">
    <vt:lpwstr>vineyard.jpg</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logo">
    <vt:lpwstr>twulogo.png</vt:lpwstr>
  </property>
  <property fmtid="{D5CDD505-2E9C-101B-9397-08002B2CF9AE}" pid="17" name="title-block-banner">
    <vt:lpwstr>True</vt:lpwstr>
  </property>
  <property fmtid="{D5CDD505-2E9C-101B-9397-08002B2CF9AE}" pid="18" name="toc-title">
    <vt:lpwstr>Table of contents</vt:lpwstr>
  </property>
</Properties>
</file>