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notesMaster" Target="notesMasters/notesMaster1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Enter 1-3 words at a time that summarize your assessment identity. (WordCloud)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What method of reporting assignment grades to learners best fits your current practice? - percentage scale (e.g., 74%) - raw score (e.g., 19/26) - letter grade (e.g., A+, A, A- … C-, D, F) - proficiency scale (e.g. Excellent, Meets Expectations, Revision Needed, Not Assessable) - a combination of the above - other (please specify)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https://mytwu-my.sharepoint.com/:x:/g/personal/colin_madland_twu_ca/EWFESCk49hFIvdhXM_YrZlwBUs5ZCTvQIiQZ9olWTNWdVg?e=ed9rWu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https://mytwu-my.sharepoint.com/:u:/g/personal/colin_madland_twu_ca/EdaTKeQImyZJk4o8TNQbBvgBo7G8Bg-PvRDwZhIUGAqwTQ?e=hAglQl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ww.twu.ca/about-us/policies-guidelines/student-policies/university-standard-grading-system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Re-imagining Assessment Choices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Colin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Assessment?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grade is an inadequate report of an inaccurate judgement by a biased and variable judge of the extent to which a student has attained an undefined level of mastery of an unknown proportion of an indefinite material.</a:t>
            </a:r>
          </a:p>
          <a:p>
            <a:pPr lvl="0" indent="0" marL="0">
              <a:buNone/>
            </a:pPr>
            <a:r>
              <a:rPr/>
              <a:t>(Feldman, 2019, p. 25)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Purposes of Assessment…</a:t>
            </a:r>
          </a:p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is ontological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“The mission of Trinity Western University, as an arm of the Church, is to develop godly Christian leaders: positive, goal-oriented university graduates with thoroughly Christian minds; growing disciples of Jesus Christ who glorify God through fulfilling the Great Commission, serving God and people in the various marketplaces of life.”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is ontological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assessing is ontological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 with your group how you would characterize your assessment identity as it is and how it came to be.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Highlights?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Agency in Assessment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/>
                <a:gridCol w="6997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quality.characteristics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Outstanding, excellent work; exceptional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Good, competent work; laudable performance with…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Adequate, reasonably satisfactory work; fair performance but infrequent evidence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Minimally acceptable work; relatively weak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Inadequate work; poor performance that indicates a lack of understanding 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University-wide system of percentage equivalents is shown in the table below [upcoming slide]. </a:t>
            </a:r>
            <a:r>
              <a:rPr sz="2000" i="1"/>
              <a:t>Faculty members may deviate from this scale</a:t>
            </a:r>
            <a:r>
              <a:rPr sz="2000"/>
              <a:t>; however, if they do so, they must indicate, in their course syllabus, the percentage equivalency system they 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 What do you wonder?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Percentage Equivalents</a:t>
            </a:r>
          </a:p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Cooperative Activity</a:t>
            </a:r>
          </a:p>
          <a:p>
            <a:pPr lvl="0" indent="0" marL="0">
              <a:buNone/>
            </a:pPr>
            <a:r>
              <a:rPr/>
              <a:t>10 mins</a:t>
            </a:r>
          </a:p>
          <a:p>
            <a:pPr lvl="0"/>
            <a:r>
              <a:rPr/>
              <a:t>shared MS Excel file which contains </a:t>
            </a:r>
            <a:r>
              <a:rPr i="1"/>
              <a:t>simulated</a:t>
            </a:r>
            <a:r>
              <a:rPr/>
              <a:t> grade data from a class of 100 learners who completed 11 assignments, two papers, one midterm exam, and one final exam.</a:t>
            </a:r>
          </a:p>
          <a:p>
            <a:pPr lvl="0"/>
            <a:r>
              <a:rPr/>
              <a:t>all items in the gradebook are recorded as a raw score out of 100</a:t>
            </a:r>
          </a:p>
          <a:p>
            <a:pPr lvl="0"/>
            <a:r>
              <a:rPr/>
              <a:t>download the file and open in MS Excel</a:t>
            </a:r>
          </a:p>
          <a:p>
            <a:pPr lvl="0"/>
            <a:r>
              <a:rPr/>
              <a:t>using the tools in Excel, decide as a group how you would report these learners’ final letter grades</a:t>
            </a:r>
          </a:p>
          <a:p>
            <a:pPr lvl="0"/>
            <a:r>
              <a:rPr/>
              <a:t>calculate the grades in the columns to the right of the data</a:t>
            </a:r>
          </a:p>
          <a:p>
            <a:pPr lvl="0"/>
            <a:r>
              <a:rPr/>
              <a:t>Use the </a:t>
            </a:r>
            <a:r>
              <a:rPr>
                <a:hlinkClick r:id="rId3"/>
              </a:rPr>
              <a:t>TWU Standard Grading System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ownloa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Types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16000"/>
            <a:ext cx="5105400" cy="2755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Validity and Reliability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scores-by-gra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beeswarm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violin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Conversation</a:t>
            </a:r>
          </a:p>
          <a:p>
            <a:pPr lvl="0"/>
            <a:r>
              <a:rPr/>
              <a:t>download ‘starch-elliott.zip’ and extract to view the images</a:t>
            </a:r>
          </a:p>
          <a:p>
            <a:pPr lvl="0"/>
            <a:r>
              <a:rPr/>
              <a:t>discuss in your group to make sense of what you see</a:t>
            </a:r>
          </a:p>
          <a:p>
            <a:pPr lvl="0"/>
            <a:r>
              <a:rPr/>
              <a:t>all of the plots are different visualizations of the same data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to go from here?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Clearly-defined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‘Learners will be able to…’ - [verb] - [level of proficiency] - not ‘learners will [verb]’ (that’s an activity, not an outcome) - pay attention to the verb - remember vs. apply - define vs. create 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Grades communicate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fewer categories of quality (5-13)</a:t>
            </a:r>
          </a:p>
          <a:p>
            <a:pPr lvl="0"/>
            <a:r>
              <a:rPr/>
              <a:t>not assessable, emerging, developing, proficient, extending</a:t>
            </a:r>
          </a:p>
          <a:p>
            <a:pPr lvl="0"/>
            <a:r>
              <a:rPr/>
              <a:t>not assessable, revision needed, meets expectations, excellent</a:t>
            </a:r>
          </a:p>
          <a:p>
            <a:pPr lvl="0"/>
            <a:r>
              <a:rPr/>
              <a:t>🏗️, ✏️, 👏🏿, 💅🏽, ✨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Closed feedback loops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Knowledge of Results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71700"/>
            <a:ext cx="5105400" cy="45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Feedback Loops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33400"/>
            <a:ext cx="5105400" cy="372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Reassessment without penalty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does NOT mean ‘reassessment without limit’!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Reassessment without penalty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18100" y="203200"/>
            <a:ext cx="19939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Feldman, J. (2019). </a:t>
            </a:r>
            <a:r>
              <a:rPr i="1"/>
              <a:t>Grading for equity: What it is, why it matters, and how it can transform schools and classrooms</a:t>
            </a:r>
            <a:r>
              <a:rPr/>
              <a:t>. Corwin, a SAGE Company.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https://doi.org/10/gfkfk6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Re-imagining Assessment Choices</dc:title>
  <dc:creator>Colin Madland</dc:creator>
  <cp:keywords/>
  <dcterms:created xsi:type="dcterms:W3CDTF">2026-06-06T16:44:26Z</dcterms:created>
  <dcterms:modified xsi:type="dcterms:W3CDTF">2026-06-06T16:44:26Z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2025-10-23</vt:lpwstr>
  </property>
  <property fmtid="{D5CDD505-2E9C-101B-9397-08002B2CF9AE}" pid="9" name="engines">
    <vt:lpwstr/>
  </property>
  <property fmtid="{D5CDD505-2E9C-101B-9397-08002B2CF9AE}" pid="10" name="footer">
    <vt:lpwstr>colin.madland@twu.ca | TWU Faculty Professional Learning Seminar</vt:lpwstr>
  </property>
  <property fmtid="{D5CDD505-2E9C-101B-9397-08002B2CF9AE}" pid="11" name="header-includes">
    <vt:lpwstr/>
  </property>
  <property fmtid="{D5CDD505-2E9C-101B-9397-08002B2CF9AE}" pid="12" name="image">
    <vt:lpwstr>vineyard.jpg</vt:lpwstr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logo">
    <vt:lpwstr>twulogo.png</vt:lpwstr>
  </property>
  <property fmtid="{D5CDD505-2E9C-101B-9397-08002B2CF9AE}" pid="17" name="title-block-banner">
    <vt:lpwstr>True</vt:lpwstr>
  </property>
  <property fmtid="{D5CDD505-2E9C-101B-9397-08002B2CF9AE}" pid="18" name="toc-title">
    <vt:lpwstr>Table of contents</vt:lpwstr>
  </property>
</Properties>
</file>