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3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notesMaster" Target="notesMasters/notesMaster1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Poll: Enter 1-3 words at a time that summarize your assessment identity. (WordCloud)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Poll: What method of reporting assignment grades to learners best fits your current practice? - percentage scale (e.g., 74%) - raw score (e.g., 19/26) - letter grade (e.g., A+, A, A- … C-, D, F) - proficiency scale (e.g. Excellent, Meets Expectations, Revision Needed, Not Assessable) - a combination of the above - other (please specify)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https://mytwu-my.sharepoint.com/:x:/g/personal/colin_madland_twu_ca/EWFESCk49hFIvdhXM_YrZlwBUs5ZCTvQIiQZ9olWTNWdVg?e=ed9rWu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https://mytwu-my.sharepoint.com/:u:/g/personal/colin_madland_twu_ca/EdaTKeQImyZJk4o8TNQbBvgBo7G8Bg-PvRDwZhIUGAqwTQ?e=hAglQl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Relationship Id="rId3" Type="http://schemas.openxmlformats.org/officeDocument/2006/relationships/hyperlink" Target="https://www.twu.ca/about-us/policies-guidelines/student-policies/university-standard-grading-system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mad.land" TargetMode="Externa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Re-imagining Assessment Choices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Colin Madland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2025-10-23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Assessment?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Assessment Triangle</a:t>
            </a:r>
          </a:p>
        </p:txBody>
      </p:sp>
      <p:pic>
        <p:nvPicPr>
          <p:cNvPr descr="assessment-tr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37000" y="203200"/>
            <a:ext cx="43815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A grade is an inadequate report of an inaccurate judgement by a biased and variable judge of the extent to which a student has attained an undefined level of mastery of an unknown proportion of an indefinite material. (</a:t>
            </a:r>
            <a:r>
              <a:rPr sz="2000" b="1"/>
              <a:t>feldmanGradingEquityWhat2019?</a:t>
            </a:r>
            <a:r>
              <a:rPr sz="2000"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Purposes of Assessment…</a:t>
            </a:r>
          </a:p>
          <a:p>
            <a:pPr lvl="0" indent="0" marL="0">
              <a:buNone/>
            </a:pPr>
            <a:r>
              <a:rPr/>
              <a:t>…of learning</a:t>
            </a:r>
            <a:br/>
            <a:r>
              <a:rPr/>
              <a:t>…for learning</a:t>
            </a:r>
            <a:br/>
            <a:r>
              <a:rPr/>
              <a:t>…as learning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learning is ontological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“The mission of Trinity Western University, as an arm of the Church, is to develop godly Christian leaders: positive, goal-oriented university graduates with thoroughly Christian minds; growing disciples of Jesus Christ who glorify God through fulfilling the Great Commission, serving God and people in the various marketplaces of life.”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teaching is ontological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assessing is ontological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Assessment Identity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beliefs | feelings | knowledge | skills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Discuss with your group how you would characterize your assessment identity as it is and how it came to be.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Highlights?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Agency in Assessment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1900"/>
                <a:gridCol w="6997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letter.grade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quality.characteristics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Outstanding, excellent work; exceptional performance with 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Good, competent work; laudable performance with…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Adequate, reasonably satisfactory work; fair performance but infrequent evidence 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Minimally acceptable work; relatively weak performance with 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Inadequate work; poor performance that indicates a lack of understanding …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The University-wide system of percentage equivalents is shown in the table below [next slide]. </a:t>
            </a:r>
            <a:r>
              <a:rPr sz="2000" i="1"/>
              <a:t>Faculty members may deviate from this scale</a:t>
            </a:r>
            <a:r>
              <a:rPr sz="2000"/>
              <a:t>; however, if they do so, they must indicate, in their course syllabus, the percentage equivalency system they use.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notice? What do you wonder?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3700"/>
                <a:gridCol w="25527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letter.grade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percentage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grade.point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90-100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85-89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80-84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77-79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73-76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70-72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67-69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63-66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60-62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57-59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53-56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50-52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Below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Breakout Cooperative Activity</a:t>
            </a:r>
          </a:p>
          <a:p>
            <a:pPr lvl="0" indent="0" marL="0">
              <a:buNone/>
            </a:pPr>
            <a:r>
              <a:rPr/>
              <a:t>10 mins</a:t>
            </a:r>
          </a:p>
          <a:p>
            <a:pPr lvl="0"/>
            <a:r>
              <a:rPr/>
              <a:t>shared MS Excel file which contains </a:t>
            </a:r>
            <a:r>
              <a:rPr i="1"/>
              <a:t>simulated</a:t>
            </a:r>
            <a:r>
              <a:rPr/>
              <a:t> grade data from a class of 100 learners who completed 11 assignments, two papers, one midterm exam, and one final exam.</a:t>
            </a:r>
          </a:p>
          <a:p>
            <a:pPr lvl="0"/>
            <a:r>
              <a:rPr/>
              <a:t>all items in the gradebook are recorded as a raw score out of 100</a:t>
            </a:r>
          </a:p>
          <a:p>
            <a:pPr lvl="0"/>
            <a:r>
              <a:rPr/>
              <a:t>download the file and open in MS Excel</a:t>
            </a:r>
          </a:p>
          <a:p>
            <a:pPr lvl="0"/>
            <a:r>
              <a:rPr/>
              <a:t>using the tools in Excel, decide as a group how you would report these learners’ final letter grades</a:t>
            </a:r>
          </a:p>
          <a:p>
            <a:pPr lvl="0"/>
            <a:r>
              <a:rPr/>
              <a:t>calculate the grades in the columns to the right of the data</a:t>
            </a:r>
          </a:p>
          <a:p>
            <a:pPr lvl="0"/>
            <a:r>
              <a:rPr/>
              <a:t>Use the </a:t>
            </a:r>
            <a:r>
              <a:rPr>
                <a:hlinkClick r:id="rId3"/>
              </a:rPr>
              <a:t>TWU Standard Grading System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downloa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47900" y="1193800"/>
            <a:ext cx="4648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Types</a:t>
            </a:r>
          </a:p>
          <a:p>
            <a:pPr lvl="0" indent="0" marL="0">
              <a:buNone/>
            </a:pPr>
          </a:p>
        </p:txBody>
      </p:sp>
      <p:pic>
        <p:nvPicPr>
          <p:cNvPr descr="index_files/figure-pptx/mermaid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43000"/>
            <a:ext cx="5105400" cy="251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Equidistant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True Zero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Nominal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Ordinal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Interval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Ratio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GRADE DATA IS ORDINAL!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averages don’t make sense</a:t>
            </a:r>
          </a:p>
          <a:p>
            <a:pPr lvl="0"/>
            <a:r>
              <a:rPr/>
              <a:t>no true zero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Validity and Reliability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valid_reliab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11300"/>
            <a:ext cx="82296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tarch-histogram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854200" y="1193800"/>
            <a:ext cx="5422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tarch-scores-by-gra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54200" y="1193800"/>
            <a:ext cx="5422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tarch-beeswarm-by-grader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54200" y="1193800"/>
            <a:ext cx="5422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tarch-violin-by-grader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54200" y="1193800"/>
            <a:ext cx="5422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Breakout Conversation</a:t>
            </a:r>
          </a:p>
          <a:p>
            <a:pPr lvl="0"/>
            <a:r>
              <a:rPr/>
              <a:t>download ‘starch-elliott.zip’ and extract to view the images</a:t>
            </a:r>
          </a:p>
          <a:p>
            <a:pPr lvl="0"/>
            <a:r>
              <a:rPr/>
              <a:t>discuss in your group to make sense of what you see</a:t>
            </a:r>
          </a:p>
          <a:p>
            <a:pPr lvl="0"/>
            <a:r>
              <a:rPr/>
              <a:t>all of the plots are different visualizations of the same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to go from here?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Clearly-defined outcomes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Grades communicate progress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Closed feedback loops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Reassessment without penalty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Knowledge emerges only through invention and re-invention, through the restless, impatient, continuing, hopeful inquiry human beings pursue in the world, with the world, and with each other. (Freire, 1990, p. 72)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cmad.land</a:t>
            </a:r>
            <a:r>
              <a:rPr/>
              <a:t> - slides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Stop. Be outside. Think.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Recall a time when you were the </a:t>
            </a:r>
            <a:r>
              <a:rPr i="1"/>
              <a:t>object</a:t>
            </a:r>
            <a:r>
              <a:rPr/>
              <a:t> in an educational transaction, where ‘teaching’ or ‘assessing’ was something done </a:t>
            </a:r>
            <a:r>
              <a:rPr b="1"/>
              <a:t>to</a:t>
            </a:r>
            <a:r>
              <a:rPr/>
              <a:t> you. What might YOU do to avoid commoditizing grades in your practice?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 indent="0" marL="0">
              <a:buNone/>
            </a:pPr>
            <a:r>
              <a:rPr/>
              <a:t>Freire, P. (1990). </a:t>
            </a:r>
            <a:r>
              <a:rPr i="1"/>
              <a:t>Pedagogy of the oppressed</a:t>
            </a:r>
            <a:r>
              <a:rPr/>
              <a:t>. Penguin.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Re-imagining Assessment Choices</dc:title>
  <dc:creator>Colin Madland</dc:creator>
  <cp:keywords/>
  <dcterms:created xsi:type="dcterms:W3CDTF">2025-10-23T04:54:48Z</dcterms:created>
  <dcterms:modified xsi:type="dcterms:W3CDTF">2025-10-23T04:54:48Z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>../../refs.bib</vt:lpwstr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sl">
    <vt:lpwstr>../../apa.csl</vt:lpwstr>
  </property>
  <property fmtid="{D5CDD505-2E9C-101B-9397-08002B2CF9AE}" pid="8" name="date">
    <vt:lpwstr>2025-10-23</vt:lpwstr>
  </property>
  <property fmtid="{D5CDD505-2E9C-101B-9397-08002B2CF9AE}" pid="9" name="draft">
    <vt:lpwstr>True</vt:lpwstr>
  </property>
  <property fmtid="{D5CDD505-2E9C-101B-9397-08002B2CF9AE}" pid="10" name="footer">
    <vt:lpwstr>colin.madland@twu.ca | TWU Faculty Professional Learning Seminar</vt:lpwstr>
  </property>
  <property fmtid="{D5CDD505-2E9C-101B-9397-08002B2CF9AE}" pid="11" name="header-includes">
    <vt:lpwstr/>
  </property>
  <property fmtid="{D5CDD505-2E9C-101B-9397-08002B2CF9AE}" pid="12" name="image">
    <vt:lpwstr>vineyard.jpg</vt:lpwstr>
  </property>
  <property fmtid="{D5CDD505-2E9C-101B-9397-08002B2CF9AE}" pid="13" name="include-after">
    <vt:lpwstr/>
  </property>
  <property fmtid="{D5CDD505-2E9C-101B-9397-08002B2CF9AE}" pid="14" name="include-before">
    <vt:lpwstr/>
  </property>
  <property fmtid="{D5CDD505-2E9C-101B-9397-08002B2CF9AE}" pid="15" name="labels">
    <vt:lpwstr/>
  </property>
  <property fmtid="{D5CDD505-2E9C-101B-9397-08002B2CF9AE}" pid="16" name="logo">
    <vt:lpwstr>twulogo.png</vt:lpwstr>
  </property>
  <property fmtid="{D5CDD505-2E9C-101B-9397-08002B2CF9AE}" pid="17" name="title-block-banner">
    <vt:lpwstr>True</vt:lpwstr>
  </property>
  <property fmtid="{D5CDD505-2E9C-101B-9397-08002B2CF9AE}" pid="18" name="toc-title">
    <vt:lpwstr>Table of contents</vt:lpwstr>
  </property>
</Properties>
</file>