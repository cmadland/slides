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image" Target="../media/image1.jp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mad.land" TargetMode="Externa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oi.org/10/gfkfk6" TargetMode="External" /><Relationship Id="rId3" Type="http://schemas.openxmlformats.org/officeDocument/2006/relationships/hyperlink" Target="https://doi.org/10.17226/10019" TargetMode="External" /><Relationship Id="rId4" Type="http://schemas.openxmlformats.org/officeDocument/2006/relationships/hyperlink" Target="https://doi.org/10.1126/science.38.983.630" TargetMode="External" /><Relationship Id="rId5" Type="http://schemas.openxmlformats.org/officeDocument/2006/relationships/hyperlink" Target="https://doi.org/10.1086/435971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Teaching, Learning, and AI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Colin Madland, Derrick Mohamed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2026-01-15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7000" b="-17000"/>
          </a:stretch>
        </a:blipFill>
        <a:effects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Welcome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Assessment Triangle</a:t>
            </a:r>
          </a:p>
        </p:txBody>
      </p:sp>
      <p:pic>
        <p:nvPicPr>
          <p:cNvPr descr="assessment-tri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702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(Pellegrino et al., 2001)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Purposes of Assessment…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…of learning</a:t>
            </a:r>
            <a:br/>
            <a:r>
              <a:rPr/>
              <a:t>…for learning</a:t>
            </a:r>
            <a:br/>
            <a:r>
              <a:rPr/>
              <a:t>…as learning</a:t>
            </a:r>
          </a:p>
          <a:p>
            <a:pPr lvl="0" indent="0" marL="0">
              <a:buNone/>
            </a:pPr>
            <a:r>
              <a:rPr/>
              <a:t>(Earl, 2013)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Teaching, learning, and assessing are all </a:t>
            </a:r>
            <a:r>
              <a:rPr i="1"/>
              <a:t>ontological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Assessment Identity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beliefs | feelings | knowledge | skills</a:t>
            </a:r>
          </a:p>
          <a:p>
            <a:pPr lvl="0" indent="0" marL="0">
              <a:buNone/>
            </a:pPr>
            <a:r>
              <a:rPr/>
              <a:t>(Looney et al., 2017)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Agency in Assessment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Percentage Equivalents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letter.grade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percentage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grade.point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90-100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4.3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85-89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4.0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80-84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3.7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77-79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3.3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73-76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3.0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70-72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2.7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67-69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2.3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63-66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2.0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60-62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D+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57-59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53-56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1.0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D-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50-52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Below 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r">
                        <a:buNone/>
                      </a:pPr>
                      <a:r>
                        <a:rPr/>
                        <a:t>0.0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Data Types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  <p:pic>
        <p:nvPicPr>
          <p:cNvPr descr="index_files/figure-pptx/mermaid-figur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368300"/>
            <a:ext cx="5105400" cy="4064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Equidistant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True Zero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Nominal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❌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Ordinal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❌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Interval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❌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Ratio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✅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GRADE DATA IS ORDINAL!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averages don’t make sense</a:t>
            </a:r>
          </a:p>
          <a:p>
            <a:pPr lvl="0"/>
            <a:r>
              <a:rPr/>
              <a:t>no true zero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Reliability of Grades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arch-histogram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854200" y="1193800"/>
            <a:ext cx="5422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(Starch, 1913; Starch &amp; Elliott, 1912)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 and Validity of Grades</a:t>
            </a:r>
          </a:p>
        </p:txBody>
      </p:sp>
      <p:pic>
        <p:nvPicPr>
          <p:cNvPr descr="valid_reliabl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11300"/>
            <a:ext cx="8229600" cy="274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Mega Breakouts - an Unconference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Instructions at the top of the doc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Knowledge emerges only through invention and re-invention, through the restless, impatient, continuing, hopeful inquiry human beings pursue in the world, with the world, and with each other. (Freire, 1990, p. 72)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Stop. Be outside. Think.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/>
              </a:rPr>
              <a:t>cmad.land</a:t>
            </a:r>
            <a:r>
              <a:rPr/>
              <a:t> - slides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Earl, L. M. (2013). </a:t>
            </a:r>
            <a:r>
              <a:rPr i="1"/>
              <a:t>Assessment as learning: Using classroom assessment to maximize student learning</a:t>
            </a:r>
            <a:r>
              <a:rPr/>
              <a:t> (Second edition). Corwin Press.</a:t>
            </a:r>
          </a:p>
          <a:p>
            <a:pPr lvl="0" indent="0" marL="0">
              <a:buNone/>
            </a:pPr>
            <a:r>
              <a:rPr/>
              <a:t>Freire, P. (1990). </a:t>
            </a:r>
            <a:r>
              <a:rPr i="1"/>
              <a:t>Pedagogy of the oppressed</a:t>
            </a:r>
            <a:r>
              <a:rPr/>
              <a:t>. Penguin.</a:t>
            </a:r>
          </a:p>
          <a:p>
            <a:pPr lvl="0" indent="0" marL="0">
              <a:buNone/>
            </a:pPr>
            <a:r>
              <a:rPr/>
              <a:t>Looney, A., Cumming, J., van der Kleij, F. M., &amp; Harris, K. (2017). Reconceptualising the role of teachers as assessors: Teacher assessment identity. </a:t>
            </a:r>
            <a:r>
              <a:rPr i="1"/>
              <a:t>Assessment in Education: Principles, Policy &amp; Practice</a:t>
            </a:r>
            <a:r>
              <a:rPr/>
              <a:t>, </a:t>
            </a:r>
            <a:r>
              <a:rPr i="1"/>
              <a:t>25</a:t>
            </a:r>
            <a:r>
              <a:rPr/>
              <a:t>, 442–467. </a:t>
            </a:r>
            <a:r>
              <a:rPr>
                <a:hlinkClick r:id="rId2"/>
              </a:rPr>
              <a:t>https://doi.org/10/gfkfk6</a:t>
            </a:r>
          </a:p>
          <a:p>
            <a:pPr lvl="0" indent="0" marL="0">
              <a:buNone/>
            </a:pPr>
            <a:r>
              <a:rPr/>
              <a:t>Pellegrino, J. W., Chudowsky, N., &amp; Glaser, R. (2001). </a:t>
            </a:r>
            <a:r>
              <a:rPr i="1"/>
              <a:t>Knowing What Students Know: The Science and Design of Educational Assessment</a:t>
            </a:r>
            <a:r>
              <a:rPr/>
              <a:t>. National Academies Press. </a:t>
            </a:r>
            <a:r>
              <a:rPr>
                <a:hlinkClick r:id="rId3"/>
              </a:rPr>
              <a:t>https://doi.org/10.17226/10019</a:t>
            </a:r>
          </a:p>
          <a:p>
            <a:pPr lvl="0" indent="0" marL="0">
              <a:buNone/>
            </a:pPr>
            <a:r>
              <a:rPr/>
              <a:t>Starch, D. (1913). Reliability and Distribution of Grades. </a:t>
            </a:r>
            <a:r>
              <a:rPr i="1"/>
              <a:t>Science</a:t>
            </a:r>
            <a:r>
              <a:rPr/>
              <a:t>, </a:t>
            </a:r>
            <a:r>
              <a:rPr i="1"/>
              <a:t>38</a:t>
            </a:r>
            <a:r>
              <a:rPr/>
              <a:t>(983), 630–636. </a:t>
            </a:r>
            <a:r>
              <a:rPr>
                <a:hlinkClick r:id="rId4"/>
              </a:rPr>
              <a:t>https://doi.org/10.1126/science.38.983.630</a:t>
            </a:r>
          </a:p>
          <a:p>
            <a:pPr lvl="0" indent="0" marL="0">
              <a:buNone/>
            </a:pPr>
            <a:r>
              <a:rPr/>
              <a:t>Starch, D., &amp; Elliott, E. C. (1912). Reliability of the Grading of High-School Work in English. </a:t>
            </a:r>
            <a:r>
              <a:rPr i="1"/>
              <a:t>The School Review</a:t>
            </a:r>
            <a:r>
              <a:rPr/>
              <a:t>, </a:t>
            </a:r>
            <a:r>
              <a:rPr i="1"/>
              <a:t>20</a:t>
            </a:r>
            <a:r>
              <a:rPr/>
              <a:t>(7), 442–457. </a:t>
            </a:r>
            <a:r>
              <a:rPr>
                <a:hlinkClick r:id="rId5"/>
              </a:rPr>
              <a:t>https://doi.org/10.1086/435971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Teaching, Learning, and AI</dc:title>
  <dc:creator>Colin Madland, Derrick Mohamed</dc:creator>
  <cp:keywords/>
  <dcterms:created xsi:type="dcterms:W3CDTF">2026-06-06T16:44:39Z</dcterms:created>
  <dcterms:modified xsi:type="dcterms:W3CDTF">2026-06-06T16:44:39Z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ibliography">
    <vt:lpwstr>../../refs.bib</vt:lpwstr>
  </property>
  <property fmtid="{D5CDD505-2E9C-101B-9397-08002B2CF9AE}" pid="5" name="by-author">
    <vt:lpwstr/>
  </property>
  <property fmtid="{D5CDD505-2E9C-101B-9397-08002B2CF9AE}" pid="6" name="categories">
    <vt:lpwstr/>
  </property>
  <property fmtid="{D5CDD505-2E9C-101B-9397-08002B2CF9AE}" pid="7" name="csl">
    <vt:lpwstr>../../apa.csl</vt:lpwstr>
  </property>
  <property fmtid="{D5CDD505-2E9C-101B-9397-08002B2CF9AE}" pid="8" name="date">
    <vt:lpwstr>2026-01-15</vt:lpwstr>
  </property>
  <property fmtid="{D5CDD505-2E9C-101B-9397-08002B2CF9AE}" pid="9" name="engines">
    <vt:lpwstr/>
  </property>
  <property fmtid="{D5CDD505-2E9C-101B-9397-08002B2CF9AE}" pid="10" name="footer">
    <vt:lpwstr>colin.madland@twu.ca | TWU Faculty Professional Learning Seminar</vt:lpwstr>
  </property>
  <property fmtid="{D5CDD505-2E9C-101B-9397-08002B2CF9AE}" pid="11" name="header-includes">
    <vt:lpwstr/>
  </property>
  <property fmtid="{D5CDD505-2E9C-101B-9397-08002B2CF9AE}" pid="12" name="image">
    <vt:lpwstr>mushbowl.jpg</vt:lpwstr>
  </property>
  <property fmtid="{D5CDD505-2E9C-101B-9397-08002B2CF9AE}" pid="13" name="include-after">
    <vt:lpwstr/>
  </property>
  <property fmtid="{D5CDD505-2E9C-101B-9397-08002B2CF9AE}" pid="14" name="include-before">
    <vt:lpwstr/>
  </property>
  <property fmtid="{D5CDD505-2E9C-101B-9397-08002B2CF9AE}" pid="15" name="labels">
    <vt:lpwstr/>
  </property>
  <property fmtid="{D5CDD505-2E9C-101B-9397-08002B2CF9AE}" pid="16" name="logo">
    <vt:lpwstr>twulogo.png</vt:lpwstr>
  </property>
  <property fmtid="{D5CDD505-2E9C-101B-9397-08002B2CF9AE}" pid="17" name="title-block-banner">
    <vt:lpwstr>True</vt:lpwstr>
  </property>
  <property fmtid="{D5CDD505-2E9C-101B-9397-08002B2CF9AE}" pid="18" name="toc-title">
    <vt:lpwstr>Table of contents</vt:lpwstr>
  </property>
</Properties>
</file>